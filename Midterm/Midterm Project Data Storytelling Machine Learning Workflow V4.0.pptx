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5FB552-4CED-405B-809A-414A83394AC9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DC269-519C-4EB5-849E-D277375BA4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945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FCCE2-0E72-9C0F-F644-630C7E22C2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B94BB9-B3D8-03A9-76C5-A5ED278D17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6BCAE-14FD-0CE7-313A-0E65DD72E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16768-BC5E-475C-A3DC-D20F6B4052D6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8D88D-553B-81F7-4FD3-6474B314D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D3BDC-C1E5-BB08-2E55-51EC68E0B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185A4-A898-4581-AEDA-CB4FE4CED8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392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48100-F8E0-0E10-5A59-2804D2BA5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9F46C-0228-8610-0DFF-6D1B601DC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EBA07-2F1C-DD06-0EB0-844DBD5D7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F860E-E49A-4E40-9675-DDE2C9C45D3E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27597-7A46-036B-7D10-3091BADA6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A0FD1-4955-603D-EC07-DE38FE1C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185A4-A898-4581-AEDA-CB4FE4CED8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002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AE52-9223-FCA3-A8F5-DF4DD82ED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736D92-CE61-B773-9FB8-9F37E8705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9E792-92BA-CADD-4014-D49B9C655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ECE5B-02FA-4D11-8FA2-498E6D04A458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CC7D5-A5D1-A117-A23E-56CE5D9D4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B3C1A-2705-E083-A380-EDBCF8290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185A4-A898-4581-AEDA-CB4FE4CED8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794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6083D-075F-FA40-B9A4-751E67B61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945D2-96A3-A33D-0795-5A8A9F1F17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927E1-AD60-F5EF-F6BB-D9945F0BA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840B85-5A5F-C972-4FC6-1CD8F4AA0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FB36D-BBB4-4244-B47F-6DD7266A8092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FB675-63F5-9C62-931C-972EA33FA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9E46DF-5C97-625D-1168-84EEA3333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185A4-A898-4581-AEDA-CB4FE4CED8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792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08CDB-FF70-0D02-B2CD-032C07C9C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35732-0487-A04D-8D31-F73108630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19B31C-C737-F9C7-D2FA-2BAABE5D73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C0765E-FFC7-D809-C0AC-B3622DDEB5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5C5FED-48B5-1391-483A-EB2F46CA9B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43E884-6351-1AD5-316A-C35E71FED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975FD-E7C8-45F2-A0B0-9CC34CE58D02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17A405-033A-417F-D844-DB68801C2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1A8F3E-CA4D-A9EF-B946-88BA7C507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185A4-A898-4581-AEDA-CB4FE4CED8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967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A1F1D-55B3-4E7B-AE90-97BA6BBAD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B8DDD4-0CDC-7D3E-F03A-BA94A8709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A0A12-77F0-4AFA-93BF-14E6B7F06B32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3CC6-66FC-0FBE-FE1C-5946FE73A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F8771D-DDF3-865B-2939-6C8CBE062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185A4-A898-4581-AEDA-CB4FE4CED8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654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E549A4-04F1-BB3A-CFBC-D7B7E86E5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BAA7E-2686-413C-AB98-FAF90138A7D1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966689-A245-61B3-F952-55F0456FC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4313A-138E-A392-D141-04560631C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185A4-A898-4581-AEDA-CB4FE4CED8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31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11442-7344-47FA-13C6-FB134CF03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2078E-660A-C490-790C-C22EBC449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D6CAC3-5E67-1AF9-0258-96A1FEAC3F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029207-B504-BD42-7F67-C6685D6D8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9A357-5D95-4DC0-8D7C-2139C68C5251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F94004-4A92-0A7A-018B-8E4D8CB63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EFFF8F-27F7-87AD-1C6D-817A51071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185A4-A898-4581-AEDA-CB4FE4CED8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636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109AB-7483-7D6B-3DFF-8D9B8E327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04F52B-5F0C-8B4E-82CC-111E38261D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EAC6D-CC5C-905B-D0A0-C844AF66E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2715AF-2D2A-3CA2-D29E-781A8B37B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8F686-F166-4DFB-81AD-73F0C6DCB9B8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7C3C5-737E-5BA5-6A42-7DACD121A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BBE7F-1651-8DB8-EEAE-F31A0071B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185A4-A898-4581-AEDA-CB4FE4CED8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126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DC78B-6799-21E3-A0CF-FD25844E0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299382-1F4E-BDBC-6F48-93F5025497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2466A-56E6-9E42-2910-E5F0672A5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14FCA-25D8-487E-A449-866A9F2AB496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E741A-B518-0A11-FAAB-45A123F86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D598F-D518-F23A-D0F9-B3E623148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185A4-A898-4581-AEDA-CB4FE4CED8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607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CC2EBA-F470-A3B8-5719-AB40AF3653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12A64F-D53A-8439-8C35-9E5F94AEDA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D0A3F-8F31-95DC-5DCF-967FA97CF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D5D68-F8FA-459E-8E1C-5686B0CB3285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DBA8C-CCB7-849B-FDC3-05F987AFD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3CBFA-A05B-723E-C90B-9704F70A8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185A4-A898-4581-AEDA-CB4FE4CED8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30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B0E5C9-7230-F789-A702-870505001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0747C-6D19-62FE-0D40-28898E7FF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F8946-53F9-4CCC-2EAB-01D033B632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624F71-70E6-4976-8544-7735E985B8FC}" type="datetime1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6CA50-0B64-04D8-7B19-FA56E9D09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FB0B1-4068-4C3D-AFE1-F6CBE112FC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F185A4-A898-4581-AEDA-CB4FE4CED8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072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1F6F220-01B3-2817-5306-3F42D587A775}"/>
              </a:ext>
            </a:extLst>
          </p:cNvPr>
          <p:cNvSpPr txBox="1"/>
          <p:nvPr/>
        </p:nvSpPr>
        <p:spPr>
          <a:xfrm>
            <a:off x="1521542" y="0"/>
            <a:ext cx="91489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Midterm Project Data Storytelling Machine Learning Workflow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E54E7DF-288A-0212-BE6C-4ACED3F78975}"/>
              </a:ext>
            </a:extLst>
          </p:cNvPr>
          <p:cNvGrpSpPr/>
          <p:nvPr/>
        </p:nvGrpSpPr>
        <p:grpSpPr>
          <a:xfrm>
            <a:off x="644012" y="926690"/>
            <a:ext cx="1700980" cy="2502310"/>
            <a:chOff x="644012" y="926690"/>
            <a:chExt cx="1700980" cy="250231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E0712FEC-4734-1822-8E79-E254F180C97E}"/>
                </a:ext>
              </a:extLst>
            </p:cNvPr>
            <p:cNvSpPr/>
            <p:nvPr/>
          </p:nvSpPr>
          <p:spPr>
            <a:xfrm>
              <a:off x="644012" y="926690"/>
              <a:ext cx="1700980" cy="1022555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508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Load</a:t>
              </a: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Dataset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5414B487-4A56-5DA0-5CCB-71F94F82AEC9}"/>
                </a:ext>
              </a:extLst>
            </p:cNvPr>
            <p:cNvSpPr/>
            <p:nvPr/>
          </p:nvSpPr>
          <p:spPr>
            <a:xfrm>
              <a:off x="644012" y="2406445"/>
              <a:ext cx="1700980" cy="1022555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b="1" dirty="0">
                  <a:solidFill>
                    <a:schemeClr val="tx1"/>
                  </a:solidFill>
                </a:rPr>
                <a:t>titanic.csv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A38D167F-59C7-3210-3091-E04E8AE85ACD}"/>
                </a:ext>
              </a:extLst>
            </p:cNvPr>
            <p:cNvCxnSpPr>
              <a:stCxn id="7" idx="2"/>
              <a:endCxn id="11" idx="0"/>
            </p:cNvCxnSpPr>
            <p:nvPr/>
          </p:nvCxnSpPr>
          <p:spPr>
            <a:xfrm>
              <a:off x="1494502" y="1949245"/>
              <a:ext cx="0" cy="45720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49A7454-A31B-1E9C-D317-EFE5BCDFCD43}"/>
              </a:ext>
            </a:extLst>
          </p:cNvPr>
          <p:cNvCxnSpPr>
            <a:stCxn id="7" idx="3"/>
            <a:endCxn id="6" idx="1"/>
          </p:cNvCxnSpPr>
          <p:nvPr/>
        </p:nvCxnSpPr>
        <p:spPr>
          <a:xfrm>
            <a:off x="2344992" y="1437968"/>
            <a:ext cx="48220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396095-31A8-1A1F-76A0-97D7732512C3}"/>
              </a:ext>
            </a:extLst>
          </p:cNvPr>
          <p:cNvGrpSpPr/>
          <p:nvPr/>
        </p:nvGrpSpPr>
        <p:grpSpPr>
          <a:xfrm>
            <a:off x="2827196" y="926690"/>
            <a:ext cx="1700980" cy="5461818"/>
            <a:chOff x="2821242" y="926690"/>
            <a:chExt cx="1700980" cy="546181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EB037F8-9922-9F76-30E7-D8848BD85011}"/>
                </a:ext>
              </a:extLst>
            </p:cNvPr>
            <p:cNvSpPr/>
            <p:nvPr/>
          </p:nvSpPr>
          <p:spPr>
            <a:xfrm>
              <a:off x="2821242" y="926690"/>
              <a:ext cx="1700980" cy="1022555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508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 Exploratory Data</a:t>
              </a: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Analysis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AF0B519-04AC-2EA0-5001-9D1706D00EA1}"/>
                </a:ext>
              </a:extLst>
            </p:cNvPr>
            <p:cNvGrpSpPr/>
            <p:nvPr/>
          </p:nvGrpSpPr>
          <p:grpSpPr>
            <a:xfrm>
              <a:off x="2821242" y="1932037"/>
              <a:ext cx="1700980" cy="4456471"/>
              <a:chOff x="2821242" y="1932037"/>
              <a:chExt cx="1700980" cy="4456471"/>
            </a:xfrm>
          </p:grpSpPr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E5D37645-E538-FDFA-C289-65067EABF6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71732" y="1932037"/>
                <a:ext cx="0" cy="45720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32D4A249-D548-A018-094E-F0EC5A734B99}"/>
                  </a:ext>
                </a:extLst>
              </p:cNvPr>
              <p:cNvSpPr/>
              <p:nvPr/>
            </p:nvSpPr>
            <p:spPr>
              <a:xfrm>
                <a:off x="2821242" y="2396612"/>
                <a:ext cx="1700980" cy="1022555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700" b="1" dirty="0">
                    <a:solidFill>
                      <a:schemeClr val="tx1"/>
                    </a:solidFill>
                  </a:rPr>
                  <a:t>Survival </a:t>
                </a:r>
              </a:p>
              <a:p>
                <a:pPr algn="ctr"/>
                <a:r>
                  <a:rPr lang="en-US" sz="1700" b="1" dirty="0">
                    <a:solidFill>
                      <a:schemeClr val="tx1"/>
                    </a:solidFill>
                  </a:rPr>
                  <a:t>By </a:t>
                </a:r>
              </a:p>
              <a:p>
                <a:pPr algn="ctr"/>
                <a:r>
                  <a:rPr lang="en-US" sz="1700" b="1" dirty="0">
                    <a:solidFill>
                      <a:schemeClr val="tx1"/>
                    </a:solidFill>
                  </a:rPr>
                  <a:t>Gender</a:t>
                </a:r>
              </a:p>
            </p:txBody>
          </p: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EBE5F582-C516-0B20-D900-E344B94514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71732" y="3429000"/>
                <a:ext cx="0" cy="45720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DDB767CD-8C24-E7B2-450F-04F48371C131}"/>
                  </a:ext>
                </a:extLst>
              </p:cNvPr>
              <p:cNvSpPr/>
              <p:nvPr/>
            </p:nvSpPr>
            <p:spPr>
              <a:xfrm>
                <a:off x="2821242" y="3896033"/>
                <a:ext cx="1700980" cy="1022555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700" b="1" dirty="0">
                    <a:solidFill>
                      <a:schemeClr val="tx1"/>
                    </a:solidFill>
                  </a:rPr>
                  <a:t>Survival </a:t>
                </a:r>
              </a:p>
              <a:p>
                <a:pPr algn="ctr"/>
                <a:r>
                  <a:rPr lang="en-US" sz="1700" b="1" dirty="0">
                    <a:solidFill>
                      <a:schemeClr val="tx1"/>
                    </a:solidFill>
                  </a:rPr>
                  <a:t>By Passenger Class</a:t>
                </a:r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672B39A1-A128-868F-9674-2987309644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71732" y="4918588"/>
                <a:ext cx="0" cy="45720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BE767487-034E-9D04-85D1-9FE89A5974F8}"/>
                  </a:ext>
                </a:extLst>
              </p:cNvPr>
              <p:cNvSpPr/>
              <p:nvPr/>
            </p:nvSpPr>
            <p:spPr>
              <a:xfrm>
                <a:off x="2821242" y="5365953"/>
                <a:ext cx="1700980" cy="1022555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700" b="1" dirty="0">
                    <a:solidFill>
                      <a:schemeClr val="tx1"/>
                    </a:solidFill>
                  </a:rPr>
                  <a:t>Survival </a:t>
                </a:r>
              </a:p>
              <a:p>
                <a:pPr algn="ctr"/>
                <a:r>
                  <a:rPr lang="en-US" sz="1700" b="1" dirty="0">
                    <a:solidFill>
                      <a:schemeClr val="tx1"/>
                    </a:solidFill>
                  </a:rPr>
                  <a:t>By Age</a:t>
                </a:r>
              </a:p>
              <a:p>
                <a:pPr algn="ctr"/>
                <a:r>
                  <a:rPr lang="en-US" sz="1700" b="1" dirty="0">
                    <a:solidFill>
                      <a:schemeClr val="tx1"/>
                    </a:solidFill>
                  </a:rPr>
                  <a:t>Distribution</a:t>
                </a:r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7DC314D-1BA3-028D-610B-F0D975551B52}"/>
              </a:ext>
            </a:extLst>
          </p:cNvPr>
          <p:cNvGrpSpPr/>
          <p:nvPr/>
        </p:nvGrpSpPr>
        <p:grpSpPr>
          <a:xfrm>
            <a:off x="9395030" y="926690"/>
            <a:ext cx="1700980" cy="4009106"/>
            <a:chOff x="9395030" y="926690"/>
            <a:chExt cx="1700980" cy="4009106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2F72A81E-5727-FB0C-A7D4-6A56170F5432}"/>
                </a:ext>
              </a:extLst>
            </p:cNvPr>
            <p:cNvSpPr/>
            <p:nvPr/>
          </p:nvSpPr>
          <p:spPr>
            <a:xfrm>
              <a:off x="9395030" y="926690"/>
              <a:ext cx="1700980" cy="1022555"/>
            </a:xfrm>
            <a:prstGeom prst="roundRect">
              <a:avLst/>
            </a:prstGeom>
            <a:solidFill>
              <a:schemeClr val="tx2">
                <a:lumMod val="50000"/>
                <a:lumOff val="50000"/>
              </a:schemeClr>
            </a:solidFill>
            <a:ln w="508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Evaluation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16514A7-4F16-D114-BD20-5F5FB259673D}"/>
                </a:ext>
              </a:extLst>
            </p:cNvPr>
            <p:cNvGrpSpPr/>
            <p:nvPr/>
          </p:nvGrpSpPr>
          <p:grpSpPr>
            <a:xfrm>
              <a:off x="9395030" y="1949245"/>
              <a:ext cx="1700980" cy="2986551"/>
              <a:chOff x="2821242" y="1932037"/>
              <a:chExt cx="1700980" cy="2986551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2185F9F-7D5F-AD7F-B30D-1FB0B2F0015F}"/>
                  </a:ext>
                </a:extLst>
              </p:cNvPr>
              <p:cNvSpPr/>
              <p:nvPr/>
            </p:nvSpPr>
            <p:spPr>
              <a:xfrm>
                <a:off x="2821242" y="2396612"/>
                <a:ext cx="1700980" cy="1022555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700" b="1" dirty="0">
                    <a:solidFill>
                      <a:schemeClr val="tx1"/>
                    </a:solidFill>
                  </a:rPr>
                  <a:t>Compute Confusion Matrix</a:t>
                </a:r>
              </a:p>
            </p:txBody>
          </p: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DFC5A90C-6683-DC02-6541-EA44ECA70B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71732" y="1932037"/>
                <a:ext cx="0" cy="45720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DE79EF78-CF75-5422-74B9-894671F9D2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71732" y="3429000"/>
                <a:ext cx="0" cy="45720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D6CB89C5-542A-C791-05D1-9ADC82EA4D75}"/>
                  </a:ext>
                </a:extLst>
              </p:cNvPr>
              <p:cNvSpPr/>
              <p:nvPr/>
            </p:nvSpPr>
            <p:spPr>
              <a:xfrm>
                <a:off x="2821242" y="3896033"/>
                <a:ext cx="1700980" cy="1022555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700" b="1" dirty="0">
                    <a:solidFill>
                      <a:schemeClr val="tx1"/>
                    </a:solidFill>
                  </a:rPr>
                  <a:t>Visualize Confusion Matrix</a:t>
                </a:r>
              </a:p>
            </p:txBody>
          </p: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C3A2CE7-8836-D342-FE78-0C17A5F7EB8B}"/>
              </a:ext>
            </a:extLst>
          </p:cNvPr>
          <p:cNvGrpSpPr/>
          <p:nvPr/>
        </p:nvGrpSpPr>
        <p:grpSpPr>
          <a:xfrm>
            <a:off x="7205702" y="926690"/>
            <a:ext cx="1707124" cy="5456903"/>
            <a:chOff x="7225481" y="926690"/>
            <a:chExt cx="1707124" cy="5456903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9D508F3F-2DB3-F05E-F004-AC92261551CA}"/>
                </a:ext>
              </a:extLst>
            </p:cNvPr>
            <p:cNvSpPr/>
            <p:nvPr/>
          </p:nvSpPr>
          <p:spPr>
            <a:xfrm>
              <a:off x="7225481" y="926690"/>
              <a:ext cx="1700980" cy="1022555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508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Modeling</a:t>
              </a: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C723B87-111E-9486-F03A-17628881403C}"/>
                </a:ext>
              </a:extLst>
            </p:cNvPr>
            <p:cNvGrpSpPr/>
            <p:nvPr/>
          </p:nvGrpSpPr>
          <p:grpSpPr>
            <a:xfrm>
              <a:off x="7231625" y="1927122"/>
              <a:ext cx="1700980" cy="4456471"/>
              <a:chOff x="2821242" y="1932037"/>
              <a:chExt cx="1700980" cy="4456471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8F79F06A-1DE9-D545-F059-D0141FAC55D4}"/>
                  </a:ext>
                </a:extLst>
              </p:cNvPr>
              <p:cNvSpPr/>
              <p:nvPr/>
            </p:nvSpPr>
            <p:spPr>
              <a:xfrm>
                <a:off x="2821242" y="2396612"/>
                <a:ext cx="1700980" cy="1022555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700" b="1" dirty="0">
                    <a:solidFill>
                      <a:schemeClr val="tx1"/>
                    </a:solidFill>
                  </a:rPr>
                  <a:t>Create &amp; Train Logistic Regression Model</a:t>
                </a:r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398C12A7-4EDC-028D-B4B5-02425D69E7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71732" y="1932037"/>
                <a:ext cx="0" cy="45720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E1B32AEA-7FC2-8313-A645-5522AABDA7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71732" y="3429000"/>
                <a:ext cx="0" cy="45720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F884F2AC-1D69-8A1B-3AD8-0888C39287F5}"/>
                  </a:ext>
                </a:extLst>
              </p:cNvPr>
              <p:cNvSpPr/>
              <p:nvPr/>
            </p:nvSpPr>
            <p:spPr>
              <a:xfrm>
                <a:off x="2821242" y="3896033"/>
                <a:ext cx="1700980" cy="1022555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Make </a:t>
                </a:r>
              </a:p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Prediction</a:t>
                </a:r>
              </a:p>
            </p:txBody>
          </p: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BFBD27A4-F454-A6FD-C18E-A61D2D071F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71732" y="4918588"/>
                <a:ext cx="0" cy="45720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F7D79AA4-103C-74C0-29A9-D0F22E78A24F}"/>
                  </a:ext>
                </a:extLst>
              </p:cNvPr>
              <p:cNvSpPr/>
              <p:nvPr/>
            </p:nvSpPr>
            <p:spPr>
              <a:xfrm>
                <a:off x="2821242" y="5365953"/>
                <a:ext cx="1700980" cy="1022555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Calculate Accuracy</a:t>
                </a:r>
              </a:p>
              <a:p>
                <a:pPr algn="ctr"/>
                <a:endParaRPr lang="en-US" b="1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78077CD-C14F-CADA-4F06-F5120CDC7193}"/>
              </a:ext>
            </a:extLst>
          </p:cNvPr>
          <p:cNvGrpSpPr/>
          <p:nvPr/>
        </p:nvGrpSpPr>
        <p:grpSpPr>
          <a:xfrm>
            <a:off x="5010380" y="926690"/>
            <a:ext cx="1713118" cy="5456903"/>
            <a:chOff x="5019520" y="926690"/>
            <a:chExt cx="1713118" cy="5456903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2704ED7B-68CE-0CCB-9070-6DEE5F38471D}"/>
                </a:ext>
              </a:extLst>
            </p:cNvPr>
            <p:cNvSpPr/>
            <p:nvPr/>
          </p:nvSpPr>
          <p:spPr>
            <a:xfrm>
              <a:off x="5031658" y="926690"/>
              <a:ext cx="1700980" cy="1022555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508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Data</a:t>
              </a: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Preparation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788F9A35-FFC8-E23C-F6D7-65C0419ECF89}"/>
                </a:ext>
              </a:extLst>
            </p:cNvPr>
            <p:cNvGrpSpPr/>
            <p:nvPr/>
          </p:nvGrpSpPr>
          <p:grpSpPr>
            <a:xfrm>
              <a:off x="5019520" y="1949245"/>
              <a:ext cx="1700980" cy="4434348"/>
              <a:chOff x="2821242" y="1954160"/>
              <a:chExt cx="1700980" cy="4434348"/>
            </a:xfrm>
          </p:grpSpPr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4B39380-4D07-A0AB-4A22-043CF630BA26}"/>
                  </a:ext>
                </a:extLst>
              </p:cNvPr>
              <p:cNvSpPr/>
              <p:nvPr/>
            </p:nvSpPr>
            <p:spPr>
              <a:xfrm>
                <a:off x="2821242" y="2396612"/>
                <a:ext cx="1700980" cy="1022555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700" b="1" dirty="0">
                    <a:solidFill>
                      <a:schemeClr val="tx1"/>
                    </a:solidFill>
                  </a:rPr>
                  <a:t>Missing Age Value With Median</a:t>
                </a:r>
              </a:p>
            </p:txBody>
          </p: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AB6B006B-FE53-928A-EE4F-3F82DBD0D5DD}"/>
                  </a:ext>
                </a:extLst>
              </p:cNvPr>
              <p:cNvCxnSpPr>
                <a:cxnSpLocks/>
                <a:stCxn id="8" idx="2"/>
              </p:cNvCxnSpPr>
              <p:nvPr/>
            </p:nvCxnSpPr>
            <p:spPr>
              <a:xfrm flipH="1">
                <a:off x="3671732" y="1954160"/>
                <a:ext cx="12138" cy="43507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BF260C7B-F602-A2D9-1927-2795DAF198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71732" y="3429000"/>
                <a:ext cx="0" cy="45720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79862487-18B8-1F0A-CE4C-9DF54F159AED}"/>
                  </a:ext>
                </a:extLst>
              </p:cNvPr>
              <p:cNvSpPr/>
              <p:nvPr/>
            </p:nvSpPr>
            <p:spPr>
              <a:xfrm>
                <a:off x="2821242" y="3896033"/>
                <a:ext cx="1700980" cy="1022555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700" b="1" dirty="0">
                    <a:solidFill>
                      <a:schemeClr val="tx1"/>
                    </a:solidFill>
                  </a:rPr>
                  <a:t>Missing Embarked Value With Mode</a:t>
                </a:r>
              </a:p>
            </p:txBody>
          </p: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15D3EBEB-3694-C4D4-ACB3-04CE6DCC87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71732" y="4918588"/>
                <a:ext cx="0" cy="45720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A2563B55-D0E6-7B53-3FAA-703E81682247}"/>
                  </a:ext>
                </a:extLst>
              </p:cNvPr>
              <p:cNvSpPr/>
              <p:nvPr/>
            </p:nvSpPr>
            <p:spPr>
              <a:xfrm>
                <a:off x="2821242" y="5365953"/>
                <a:ext cx="1700980" cy="1022555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700" b="1" dirty="0">
                    <a:solidFill>
                      <a:schemeClr val="tx1"/>
                    </a:solidFill>
                  </a:rPr>
                  <a:t>Encode Sex Value </a:t>
                </a:r>
              </a:p>
              <a:p>
                <a:pPr algn="ctr"/>
                <a:r>
                  <a:rPr lang="en-US" sz="1700" b="1" dirty="0">
                    <a:solidFill>
                      <a:schemeClr val="tx1"/>
                    </a:solidFill>
                  </a:rPr>
                  <a:t>Male = 0</a:t>
                </a:r>
              </a:p>
              <a:p>
                <a:pPr algn="ctr"/>
                <a:r>
                  <a:rPr lang="en-US" sz="1700" b="1" dirty="0">
                    <a:solidFill>
                      <a:schemeClr val="tx1"/>
                    </a:solidFill>
                  </a:rPr>
                  <a:t>Female = 1</a:t>
                </a:r>
              </a:p>
            </p:txBody>
          </p:sp>
        </p:grpSp>
      </p:grp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E026D96-B79A-EE96-A0F0-B37A187CFF75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4528176" y="1437968"/>
            <a:ext cx="49434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12574A9-ED3E-CC74-1E08-39CEB9287DC4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6723498" y="1437968"/>
            <a:ext cx="48220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20A74AD-5476-DDDA-76F6-EA167AFEBFB7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8906682" y="1437968"/>
            <a:ext cx="4883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244E28FA-5C65-1482-91A8-19B358378359}"/>
              </a:ext>
            </a:extLst>
          </p:cNvPr>
          <p:cNvSpPr txBox="1"/>
          <p:nvPr/>
        </p:nvSpPr>
        <p:spPr>
          <a:xfrm>
            <a:off x="11110165" y="0"/>
            <a:ext cx="1081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Version 4.0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0FFA5A-EDC1-014B-36B5-362AD3232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185A4-A898-4581-AEDA-CB4FE4CED82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631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1F6F220-01B3-2817-5306-3F42D587A775}"/>
              </a:ext>
            </a:extLst>
          </p:cNvPr>
          <p:cNvSpPr txBox="1"/>
          <p:nvPr/>
        </p:nvSpPr>
        <p:spPr>
          <a:xfrm>
            <a:off x="4528661" y="0"/>
            <a:ext cx="31346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Flowchart for Coding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0712FEC-4734-1822-8E79-E254F180C97E}"/>
              </a:ext>
            </a:extLst>
          </p:cNvPr>
          <p:cNvSpPr/>
          <p:nvPr/>
        </p:nvSpPr>
        <p:spPr>
          <a:xfrm>
            <a:off x="2888655" y="973366"/>
            <a:ext cx="1700980" cy="73880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Load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Dataset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F72A81E-5727-FB0C-A7D4-6A56170F5432}"/>
              </a:ext>
            </a:extLst>
          </p:cNvPr>
          <p:cNvSpPr/>
          <p:nvPr/>
        </p:nvSpPr>
        <p:spPr>
          <a:xfrm>
            <a:off x="7871040" y="5390813"/>
            <a:ext cx="1700980" cy="1022555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Evaluation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B037F8-9922-9F76-30E7-D8848BD85011}"/>
              </a:ext>
            </a:extLst>
          </p:cNvPr>
          <p:cNvSpPr/>
          <p:nvPr/>
        </p:nvSpPr>
        <p:spPr>
          <a:xfrm>
            <a:off x="5398073" y="2513942"/>
            <a:ext cx="1700980" cy="1022555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Exploratory Data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Analysis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D508F3F-2DB3-F05E-F004-AC92261551CA}"/>
              </a:ext>
            </a:extLst>
          </p:cNvPr>
          <p:cNvSpPr/>
          <p:nvPr/>
        </p:nvSpPr>
        <p:spPr>
          <a:xfrm>
            <a:off x="5398073" y="5390813"/>
            <a:ext cx="1700980" cy="102255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Modeling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704ED7B-68CE-0CCB-9070-6DEE5F38471D}"/>
              </a:ext>
            </a:extLst>
          </p:cNvPr>
          <p:cNvSpPr/>
          <p:nvPr/>
        </p:nvSpPr>
        <p:spPr>
          <a:xfrm>
            <a:off x="5398073" y="3997399"/>
            <a:ext cx="1700980" cy="102255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Data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Preparation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255A993-FC4D-6ADD-813A-E3E1C4868C67}"/>
              </a:ext>
            </a:extLst>
          </p:cNvPr>
          <p:cNvSpPr/>
          <p:nvPr/>
        </p:nvSpPr>
        <p:spPr>
          <a:xfrm>
            <a:off x="403538" y="973365"/>
            <a:ext cx="1700980" cy="738808"/>
          </a:xfrm>
          <a:prstGeom prst="roundRect">
            <a:avLst/>
          </a:prstGeom>
          <a:solidFill>
            <a:srgbClr val="FFFF00"/>
          </a:solidFill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Start Main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Routine</a:t>
            </a: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20637791-9F10-B3BA-0F43-9CF12CB6A9AC}"/>
              </a:ext>
            </a:extLst>
          </p:cNvPr>
          <p:cNvSpPr/>
          <p:nvPr/>
        </p:nvSpPr>
        <p:spPr>
          <a:xfrm>
            <a:off x="5398073" y="620874"/>
            <a:ext cx="1700980" cy="1443790"/>
          </a:xfrm>
          <a:prstGeom prst="diamond">
            <a:avLst/>
          </a:prstGeom>
          <a:solidFill>
            <a:srgbClr val="FFC000"/>
          </a:solidFill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Is Data OK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74F9A6B-2C19-1F83-A3ED-B2F49EFECBA7}"/>
              </a:ext>
            </a:extLst>
          </p:cNvPr>
          <p:cNvSpPr/>
          <p:nvPr/>
        </p:nvSpPr>
        <p:spPr>
          <a:xfrm>
            <a:off x="7871040" y="973366"/>
            <a:ext cx="1700980" cy="738807"/>
          </a:xfrm>
          <a:prstGeom prst="roundRect">
            <a:avLst/>
          </a:prstGeom>
          <a:solidFill>
            <a:srgbClr val="FF0000"/>
          </a:solidFill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Error Message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206930A-A15C-CF26-0FDC-E6CFC7BB24E6}"/>
              </a:ext>
            </a:extLst>
          </p:cNvPr>
          <p:cNvCxnSpPr>
            <a:cxnSpLocks/>
          </p:cNvCxnSpPr>
          <p:nvPr/>
        </p:nvCxnSpPr>
        <p:spPr>
          <a:xfrm>
            <a:off x="2104518" y="1342769"/>
            <a:ext cx="784137" cy="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97E8AFC-2D01-910C-4903-A4F40761AF2D}"/>
              </a:ext>
            </a:extLst>
          </p:cNvPr>
          <p:cNvCxnSpPr>
            <a:cxnSpLocks/>
          </p:cNvCxnSpPr>
          <p:nvPr/>
        </p:nvCxnSpPr>
        <p:spPr>
          <a:xfrm flipV="1">
            <a:off x="4589635" y="1342769"/>
            <a:ext cx="808438" cy="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26FCFD8-4CE2-0CD1-B2BA-78AA102089A0}"/>
              </a:ext>
            </a:extLst>
          </p:cNvPr>
          <p:cNvCxnSpPr>
            <a:cxnSpLocks/>
          </p:cNvCxnSpPr>
          <p:nvPr/>
        </p:nvCxnSpPr>
        <p:spPr>
          <a:xfrm flipV="1">
            <a:off x="7074752" y="1342769"/>
            <a:ext cx="808438" cy="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0437D33A-A663-27A9-68B9-B8635340A030}"/>
              </a:ext>
            </a:extLst>
          </p:cNvPr>
          <p:cNvSpPr txBox="1"/>
          <p:nvPr/>
        </p:nvSpPr>
        <p:spPr>
          <a:xfrm>
            <a:off x="6965248" y="1030369"/>
            <a:ext cx="6354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/>
              <a:t>No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3511C37-CCA3-1FD1-D00D-3ED3B05AD57F}"/>
              </a:ext>
            </a:extLst>
          </p:cNvPr>
          <p:cNvSpPr txBox="1"/>
          <p:nvPr/>
        </p:nvSpPr>
        <p:spPr>
          <a:xfrm>
            <a:off x="5573333" y="1911539"/>
            <a:ext cx="6354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Yes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2CFEEC1-81B5-4EA6-4735-D09AB7A666F5}"/>
              </a:ext>
            </a:extLst>
          </p:cNvPr>
          <p:cNvCxnSpPr>
            <a:cxnSpLocks/>
          </p:cNvCxnSpPr>
          <p:nvPr/>
        </p:nvCxnSpPr>
        <p:spPr>
          <a:xfrm>
            <a:off x="9559870" y="1368923"/>
            <a:ext cx="784137" cy="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22C64EFF-6334-DCA1-950D-80600AC058F8}"/>
              </a:ext>
            </a:extLst>
          </p:cNvPr>
          <p:cNvSpPr/>
          <p:nvPr/>
        </p:nvSpPr>
        <p:spPr>
          <a:xfrm>
            <a:off x="10343637" y="973365"/>
            <a:ext cx="1700980" cy="738808"/>
          </a:xfrm>
          <a:prstGeom prst="roundRect">
            <a:avLst/>
          </a:prstGeom>
          <a:solidFill>
            <a:srgbClr val="FFFF00"/>
          </a:solidFill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Stop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Program</a:t>
            </a:r>
          </a:p>
        </p:txBody>
      </p: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3A18AA4A-A6C4-8B25-3BEB-25CEF498A861}"/>
              </a:ext>
            </a:extLst>
          </p:cNvPr>
          <p:cNvCxnSpPr>
            <a:stCxn id="10" idx="3"/>
          </p:cNvCxnSpPr>
          <p:nvPr/>
        </p:nvCxnSpPr>
        <p:spPr>
          <a:xfrm flipV="1">
            <a:off x="9572020" y="1368923"/>
            <a:ext cx="379918" cy="4533168"/>
          </a:xfrm>
          <a:prstGeom prst="bentConnector2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CFBDE062-D9EC-707F-7DE1-A0038FB5E97D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6248563" y="2064664"/>
            <a:ext cx="0" cy="449278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47676AB-91ED-F79A-8E8E-A50CA7C517DB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6248563" y="3536497"/>
            <a:ext cx="0" cy="46090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18A7390-BB05-8CC5-7881-50F7E810266B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6248563" y="5019954"/>
            <a:ext cx="0" cy="37085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0D90063-C3CF-7269-3F8F-0B84F4913992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7099053" y="5902091"/>
            <a:ext cx="771987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Slide Number Placeholder 71">
            <a:extLst>
              <a:ext uri="{FF2B5EF4-FFF2-40B4-BE49-F238E27FC236}">
                <a16:creationId xmlns:a16="http://schemas.microsoft.com/office/drawing/2014/main" id="{F79FF89A-8C30-7E94-6294-E2236B08C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185A4-A898-4581-AEDA-CB4FE4CED82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155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D1B8D-370B-00B6-56B0-701FCCAC0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0EA2514-FD60-9D77-DAF8-B315C18DAAC9}"/>
              </a:ext>
            </a:extLst>
          </p:cNvPr>
          <p:cNvSpPr txBox="1"/>
          <p:nvPr/>
        </p:nvSpPr>
        <p:spPr>
          <a:xfrm>
            <a:off x="3388587" y="-677"/>
            <a:ext cx="54148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Comparing Machine Learning Models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110C2C-D5F6-6AF4-CEB0-B644A659D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185A4-A898-4581-AEDA-CB4FE4CED82D}" type="slidenum">
              <a:rPr lang="en-US" smtClean="0"/>
              <a:t>3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5ED8B5D-F6D3-760B-7FF7-404D46CAD1DC}"/>
              </a:ext>
            </a:extLst>
          </p:cNvPr>
          <p:cNvSpPr/>
          <p:nvPr/>
        </p:nvSpPr>
        <p:spPr>
          <a:xfrm>
            <a:off x="189321" y="1292841"/>
            <a:ext cx="1918519" cy="87261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Logistic 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Model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DF448FD-E535-1835-9FBE-E1BA16669588}"/>
              </a:ext>
            </a:extLst>
          </p:cNvPr>
          <p:cNvSpPr/>
          <p:nvPr/>
        </p:nvSpPr>
        <p:spPr>
          <a:xfrm>
            <a:off x="5985611" y="1729147"/>
            <a:ext cx="1918519" cy="87261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Logistic Confusion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 Matrix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C3540A7-7798-B6E7-56EA-C229EDC15007}"/>
              </a:ext>
            </a:extLst>
          </p:cNvPr>
          <p:cNvSpPr/>
          <p:nvPr/>
        </p:nvSpPr>
        <p:spPr>
          <a:xfrm>
            <a:off x="5985611" y="744242"/>
            <a:ext cx="1918519" cy="87261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Logistic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Calculate Accuray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A144181-0D1F-B818-AECF-2E4A8A7913B7}"/>
              </a:ext>
            </a:extLst>
          </p:cNvPr>
          <p:cNvSpPr/>
          <p:nvPr/>
        </p:nvSpPr>
        <p:spPr>
          <a:xfrm>
            <a:off x="189321" y="3268594"/>
            <a:ext cx="1918518" cy="872612"/>
          </a:xfrm>
          <a:prstGeom prst="roundRect">
            <a:avLst/>
          </a:prstGeom>
          <a:solidFill>
            <a:srgbClr val="FFFF00"/>
          </a:solidFill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Decision Tree Model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324B6242-A96E-F2E4-AE2A-7C6FFFD3EC67}"/>
              </a:ext>
            </a:extLst>
          </p:cNvPr>
          <p:cNvSpPr/>
          <p:nvPr/>
        </p:nvSpPr>
        <p:spPr>
          <a:xfrm>
            <a:off x="5985611" y="3789005"/>
            <a:ext cx="1918519" cy="87261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Decision Tree Confusion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 Matrix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40BFFB61-B8C2-D7F9-EB3B-208D72647AD9}"/>
              </a:ext>
            </a:extLst>
          </p:cNvPr>
          <p:cNvSpPr/>
          <p:nvPr/>
        </p:nvSpPr>
        <p:spPr>
          <a:xfrm>
            <a:off x="5985611" y="2804100"/>
            <a:ext cx="1918519" cy="8726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Decision Tree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Calculate Accuray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2DEE2FA8-5F7E-2A76-87E0-2015BFAB8729}"/>
              </a:ext>
            </a:extLst>
          </p:cNvPr>
          <p:cNvSpPr/>
          <p:nvPr/>
        </p:nvSpPr>
        <p:spPr>
          <a:xfrm>
            <a:off x="202839" y="5389219"/>
            <a:ext cx="1891482" cy="87261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508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Random Forest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Model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FDE4A7FA-45CD-1721-0C48-D1447A2C22AD}"/>
              </a:ext>
            </a:extLst>
          </p:cNvPr>
          <p:cNvSpPr/>
          <p:nvPr/>
        </p:nvSpPr>
        <p:spPr>
          <a:xfrm>
            <a:off x="5985611" y="5825525"/>
            <a:ext cx="1918519" cy="87261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Random Forest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 Confusion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 Matrix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AB6979AA-C56C-DCB7-5AB5-C185128A4B15}"/>
              </a:ext>
            </a:extLst>
          </p:cNvPr>
          <p:cNvSpPr/>
          <p:nvPr/>
        </p:nvSpPr>
        <p:spPr>
          <a:xfrm>
            <a:off x="5985611" y="4840620"/>
            <a:ext cx="1918519" cy="87261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Random Forest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Calculate Accuray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48E79B9-20A5-6459-7977-4E5DA6B32886}"/>
              </a:ext>
            </a:extLst>
          </p:cNvPr>
          <p:cNvSpPr/>
          <p:nvPr/>
        </p:nvSpPr>
        <p:spPr>
          <a:xfrm>
            <a:off x="2611275" y="830320"/>
            <a:ext cx="2380865" cy="177008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Workflow 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Machine Learning Block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4BE0A0D-2B45-9485-8717-1D9BC74E913E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107840" y="1729147"/>
            <a:ext cx="53192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7DE6F04-80E3-B13D-A9B7-FEEF689BB506}"/>
              </a:ext>
            </a:extLst>
          </p:cNvPr>
          <p:cNvCxnSpPr>
            <a:cxnSpLocks/>
            <a:stCxn id="43" idx="3"/>
          </p:cNvCxnSpPr>
          <p:nvPr/>
        </p:nvCxnSpPr>
        <p:spPr>
          <a:xfrm flipV="1">
            <a:off x="2107839" y="3694930"/>
            <a:ext cx="490335" cy="99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3A2BCA66-DDE4-846B-4570-7CEF62E95A8D}"/>
              </a:ext>
            </a:extLst>
          </p:cNvPr>
          <p:cNvCxnSpPr>
            <a:cxnSpLocks/>
          </p:cNvCxnSpPr>
          <p:nvPr/>
        </p:nvCxnSpPr>
        <p:spPr>
          <a:xfrm flipV="1">
            <a:off x="2098058" y="5824356"/>
            <a:ext cx="507589" cy="18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BFB259BD-0D83-DFE2-2A10-4FF1DC22AF99}"/>
              </a:ext>
            </a:extLst>
          </p:cNvPr>
          <p:cNvCxnSpPr>
            <a:cxnSpLocks/>
          </p:cNvCxnSpPr>
          <p:nvPr/>
        </p:nvCxnSpPr>
        <p:spPr>
          <a:xfrm flipV="1">
            <a:off x="4984048" y="1165732"/>
            <a:ext cx="1003802" cy="82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85417EA-6C2B-2B64-B43D-266BB4CDAF1D}"/>
              </a:ext>
            </a:extLst>
          </p:cNvPr>
          <p:cNvCxnSpPr>
            <a:cxnSpLocks/>
          </p:cNvCxnSpPr>
          <p:nvPr/>
        </p:nvCxnSpPr>
        <p:spPr>
          <a:xfrm>
            <a:off x="5006075" y="2191925"/>
            <a:ext cx="981775" cy="34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11BC4C11-C4E1-4FCB-0403-B02B8F46064D}"/>
              </a:ext>
            </a:extLst>
          </p:cNvPr>
          <p:cNvCxnSpPr>
            <a:cxnSpLocks/>
          </p:cNvCxnSpPr>
          <p:nvPr/>
        </p:nvCxnSpPr>
        <p:spPr>
          <a:xfrm flipV="1">
            <a:off x="5020207" y="3239236"/>
            <a:ext cx="977244" cy="86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981EC33-4894-4924-B83C-BD4FCD90C59C}"/>
              </a:ext>
            </a:extLst>
          </p:cNvPr>
          <p:cNvCxnSpPr>
            <a:cxnSpLocks/>
          </p:cNvCxnSpPr>
          <p:nvPr/>
        </p:nvCxnSpPr>
        <p:spPr>
          <a:xfrm>
            <a:off x="4954531" y="4241839"/>
            <a:ext cx="103331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02317054-33C8-2A02-02A5-3BD0B3F0C26F}"/>
              </a:ext>
            </a:extLst>
          </p:cNvPr>
          <p:cNvCxnSpPr>
            <a:cxnSpLocks/>
          </p:cNvCxnSpPr>
          <p:nvPr/>
        </p:nvCxnSpPr>
        <p:spPr>
          <a:xfrm>
            <a:off x="5006075" y="5266489"/>
            <a:ext cx="1005344" cy="926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B3965AE-60A1-20BB-9EB9-953BB9DE9CA4}"/>
              </a:ext>
            </a:extLst>
          </p:cNvPr>
          <p:cNvCxnSpPr>
            <a:cxnSpLocks/>
          </p:cNvCxnSpPr>
          <p:nvPr/>
        </p:nvCxnSpPr>
        <p:spPr>
          <a:xfrm>
            <a:off x="5006075" y="6261153"/>
            <a:ext cx="99305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2A3CD059-77B8-A6AC-35B3-A79109134D22}"/>
              </a:ext>
            </a:extLst>
          </p:cNvPr>
          <p:cNvSpPr/>
          <p:nvPr/>
        </p:nvSpPr>
        <p:spPr>
          <a:xfrm>
            <a:off x="8410269" y="744241"/>
            <a:ext cx="1490816" cy="595389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Comparing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Block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76430DA5-698C-6961-B06C-14C439D5D5C8}"/>
              </a:ext>
            </a:extLst>
          </p:cNvPr>
          <p:cNvSpPr/>
          <p:nvPr/>
        </p:nvSpPr>
        <p:spPr>
          <a:xfrm>
            <a:off x="10446966" y="5518711"/>
            <a:ext cx="414110" cy="381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9B42B385-B583-D57B-F9D2-CBA0F860DD40}"/>
              </a:ext>
            </a:extLst>
          </p:cNvPr>
          <p:cNvSpPr/>
          <p:nvPr/>
        </p:nvSpPr>
        <p:spPr>
          <a:xfrm>
            <a:off x="10436006" y="1438803"/>
            <a:ext cx="414110" cy="381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1BDE4526-9B5D-4F8E-6218-4440A0DE3F93}"/>
              </a:ext>
            </a:extLst>
          </p:cNvPr>
          <p:cNvSpPr/>
          <p:nvPr/>
        </p:nvSpPr>
        <p:spPr>
          <a:xfrm>
            <a:off x="10446966" y="3471857"/>
            <a:ext cx="414110" cy="381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Y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677BA83-59D1-2AD6-AD49-214CFFF8224D}"/>
              </a:ext>
            </a:extLst>
          </p:cNvPr>
          <p:cNvSpPr txBox="1"/>
          <p:nvPr/>
        </p:nvSpPr>
        <p:spPr>
          <a:xfrm>
            <a:off x="10777139" y="1292337"/>
            <a:ext cx="13631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Logistic 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Model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83F4E74-7490-D239-1C45-A3F77177F790}"/>
              </a:ext>
            </a:extLst>
          </p:cNvPr>
          <p:cNvSpPr txBox="1"/>
          <p:nvPr/>
        </p:nvSpPr>
        <p:spPr>
          <a:xfrm>
            <a:off x="10777139" y="3215557"/>
            <a:ext cx="13631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Decision</a:t>
            </a:r>
          </a:p>
          <a:p>
            <a:pPr algn="ctr"/>
            <a:r>
              <a:rPr lang="en-US" b="1" dirty="0"/>
              <a:t>Tree</a:t>
            </a:r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Model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7ADDAAA-7E67-A6EB-F662-D103178391C0}"/>
              </a:ext>
            </a:extLst>
          </p:cNvPr>
          <p:cNvSpPr txBox="1"/>
          <p:nvPr/>
        </p:nvSpPr>
        <p:spPr>
          <a:xfrm>
            <a:off x="10777139" y="5195546"/>
            <a:ext cx="13631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Random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Forest 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Model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B87F6B53-DCC1-AF80-04B0-C4ECFEDBE66F}"/>
              </a:ext>
            </a:extLst>
          </p:cNvPr>
          <p:cNvCxnSpPr>
            <a:cxnSpLocks/>
          </p:cNvCxnSpPr>
          <p:nvPr/>
        </p:nvCxnSpPr>
        <p:spPr>
          <a:xfrm>
            <a:off x="9890125" y="1615503"/>
            <a:ext cx="54588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7C307306-769A-1F4A-EDC0-35D06B98B68C}"/>
              </a:ext>
            </a:extLst>
          </p:cNvPr>
          <p:cNvCxnSpPr>
            <a:cxnSpLocks/>
          </p:cNvCxnSpPr>
          <p:nvPr/>
        </p:nvCxnSpPr>
        <p:spPr>
          <a:xfrm>
            <a:off x="9901084" y="3662357"/>
            <a:ext cx="54588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0D72F028-5E39-9815-C2F7-464A3BDB1A52}"/>
              </a:ext>
            </a:extLst>
          </p:cNvPr>
          <p:cNvCxnSpPr>
            <a:cxnSpLocks/>
          </p:cNvCxnSpPr>
          <p:nvPr/>
        </p:nvCxnSpPr>
        <p:spPr>
          <a:xfrm>
            <a:off x="9901084" y="5709211"/>
            <a:ext cx="54588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55C30990-FA5B-AFB0-BB07-580E10DAC1CD}"/>
              </a:ext>
            </a:extLst>
          </p:cNvPr>
          <p:cNvCxnSpPr>
            <a:cxnSpLocks/>
          </p:cNvCxnSpPr>
          <p:nvPr/>
        </p:nvCxnSpPr>
        <p:spPr>
          <a:xfrm>
            <a:off x="7890612" y="1166070"/>
            <a:ext cx="51965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0F075C68-AB0A-17FA-D01E-4100E9ECCBCB}"/>
              </a:ext>
            </a:extLst>
          </p:cNvPr>
          <p:cNvCxnSpPr>
            <a:cxnSpLocks/>
          </p:cNvCxnSpPr>
          <p:nvPr/>
        </p:nvCxnSpPr>
        <p:spPr>
          <a:xfrm>
            <a:off x="7890612" y="2195349"/>
            <a:ext cx="51965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3EDFDC5D-C634-7EE2-4373-23F4C70B619F}"/>
              </a:ext>
            </a:extLst>
          </p:cNvPr>
          <p:cNvCxnSpPr>
            <a:cxnSpLocks/>
          </p:cNvCxnSpPr>
          <p:nvPr/>
        </p:nvCxnSpPr>
        <p:spPr>
          <a:xfrm>
            <a:off x="7890612" y="3230435"/>
            <a:ext cx="51965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4A7A9A31-F049-1522-60E7-E39B259E5B98}"/>
              </a:ext>
            </a:extLst>
          </p:cNvPr>
          <p:cNvCxnSpPr>
            <a:cxnSpLocks/>
          </p:cNvCxnSpPr>
          <p:nvPr/>
        </p:nvCxnSpPr>
        <p:spPr>
          <a:xfrm>
            <a:off x="7917647" y="4241839"/>
            <a:ext cx="51965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F310C555-1DB3-B4CD-B734-A7F21AA767F0}"/>
              </a:ext>
            </a:extLst>
          </p:cNvPr>
          <p:cNvCxnSpPr>
            <a:cxnSpLocks/>
          </p:cNvCxnSpPr>
          <p:nvPr/>
        </p:nvCxnSpPr>
        <p:spPr>
          <a:xfrm>
            <a:off x="7917647" y="5275756"/>
            <a:ext cx="51965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48FE9410-CC6E-C455-42F8-C10C8C235707}"/>
              </a:ext>
            </a:extLst>
          </p:cNvPr>
          <p:cNvCxnSpPr>
            <a:cxnSpLocks/>
          </p:cNvCxnSpPr>
          <p:nvPr/>
        </p:nvCxnSpPr>
        <p:spPr>
          <a:xfrm>
            <a:off x="7917647" y="6213211"/>
            <a:ext cx="51965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ectangle 120">
            <a:extLst>
              <a:ext uri="{FF2B5EF4-FFF2-40B4-BE49-F238E27FC236}">
                <a16:creationId xmlns:a16="http://schemas.microsoft.com/office/drawing/2014/main" id="{DC1542CD-590B-5F11-875C-ED5101F1AA5B}"/>
              </a:ext>
            </a:extLst>
          </p:cNvPr>
          <p:cNvSpPr/>
          <p:nvPr/>
        </p:nvSpPr>
        <p:spPr>
          <a:xfrm>
            <a:off x="2611275" y="2802931"/>
            <a:ext cx="2380865" cy="18586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Workflow 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Machine Learning Block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B1C62037-F9B5-99EB-E081-E9EC5D4474ED}"/>
              </a:ext>
            </a:extLst>
          </p:cNvPr>
          <p:cNvSpPr/>
          <p:nvPr/>
        </p:nvSpPr>
        <p:spPr>
          <a:xfrm>
            <a:off x="2611275" y="5039371"/>
            <a:ext cx="2380865" cy="16483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Workflow </a:t>
            </a:r>
          </a:p>
          <a:p>
            <a:pPr algn="ctr"/>
            <a:r>
              <a:rPr lang="en-US" sz="2000" b="1" dirty="0">
                <a:solidFill>
                  <a:schemeClr val="tx1"/>
                </a:solidFill>
              </a:rPr>
              <a:t>Machine Learning Block</a:t>
            </a:r>
          </a:p>
        </p:txBody>
      </p:sp>
    </p:spTree>
    <p:extLst>
      <p:ext uri="{BB962C8B-B14F-4D97-AF65-F5344CB8AC3E}">
        <p14:creationId xmlns:p14="http://schemas.microsoft.com/office/powerpoint/2010/main" val="420065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C45CB-0FBD-FA06-D609-A7552C93C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11C45F-27C5-1395-15D9-898BEB08F72C}"/>
              </a:ext>
            </a:extLst>
          </p:cNvPr>
          <p:cNvSpPr/>
          <p:nvPr/>
        </p:nvSpPr>
        <p:spPr>
          <a:xfrm>
            <a:off x="471948" y="461665"/>
            <a:ext cx="10881852" cy="58946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16B3EE-A2FC-0D63-C282-5F086237ADA7}"/>
              </a:ext>
            </a:extLst>
          </p:cNvPr>
          <p:cNvSpPr txBox="1"/>
          <p:nvPr/>
        </p:nvSpPr>
        <p:spPr>
          <a:xfrm>
            <a:off x="3491810" y="0"/>
            <a:ext cx="52083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Workflow Machine Learning Block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AFF6743-4071-EA83-77A1-CC54E080FAA0}"/>
              </a:ext>
            </a:extLst>
          </p:cNvPr>
          <p:cNvGrpSpPr/>
          <p:nvPr/>
        </p:nvGrpSpPr>
        <p:grpSpPr>
          <a:xfrm>
            <a:off x="644012" y="678098"/>
            <a:ext cx="1700980" cy="2502310"/>
            <a:chOff x="644012" y="926690"/>
            <a:chExt cx="1700980" cy="250231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FFB02684-1BE1-8DD5-7C4F-A1C76B1138C6}"/>
                </a:ext>
              </a:extLst>
            </p:cNvPr>
            <p:cNvSpPr/>
            <p:nvPr/>
          </p:nvSpPr>
          <p:spPr>
            <a:xfrm>
              <a:off x="644012" y="926690"/>
              <a:ext cx="1700980" cy="1022555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508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Load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Dataset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9AA16EDE-7AF2-80F0-9E0C-B46F9CF5E4B1}"/>
                </a:ext>
              </a:extLst>
            </p:cNvPr>
            <p:cNvSpPr/>
            <p:nvPr/>
          </p:nvSpPr>
          <p:spPr>
            <a:xfrm>
              <a:off x="644012" y="2406445"/>
              <a:ext cx="1700980" cy="1022555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700" dirty="0">
                  <a:solidFill>
                    <a:schemeClr val="tx1"/>
                  </a:solidFill>
                </a:rPr>
                <a:t>titanic.csv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C69018CB-CCD6-1621-1CAC-CB9604E6111B}"/>
                </a:ext>
              </a:extLst>
            </p:cNvPr>
            <p:cNvCxnSpPr>
              <a:stCxn id="7" idx="2"/>
              <a:endCxn id="11" idx="0"/>
            </p:cNvCxnSpPr>
            <p:nvPr/>
          </p:nvCxnSpPr>
          <p:spPr>
            <a:xfrm>
              <a:off x="1494502" y="1949245"/>
              <a:ext cx="0" cy="45720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1AFDD22-45D8-B241-1837-20D6C2E5AC3E}"/>
              </a:ext>
            </a:extLst>
          </p:cNvPr>
          <p:cNvCxnSpPr>
            <a:stCxn id="7" idx="3"/>
            <a:endCxn id="6" idx="1"/>
          </p:cNvCxnSpPr>
          <p:nvPr/>
        </p:nvCxnSpPr>
        <p:spPr>
          <a:xfrm>
            <a:off x="2344992" y="1189376"/>
            <a:ext cx="48220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AF6E2FC-704E-E6F2-3A21-789F1C171C51}"/>
              </a:ext>
            </a:extLst>
          </p:cNvPr>
          <p:cNvGrpSpPr/>
          <p:nvPr/>
        </p:nvGrpSpPr>
        <p:grpSpPr>
          <a:xfrm>
            <a:off x="2827196" y="678098"/>
            <a:ext cx="1700980" cy="5461818"/>
            <a:chOff x="2821242" y="926690"/>
            <a:chExt cx="1700980" cy="546181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57F9EC4-72DE-F31C-EE32-8652E9690967}"/>
                </a:ext>
              </a:extLst>
            </p:cNvPr>
            <p:cNvSpPr/>
            <p:nvPr/>
          </p:nvSpPr>
          <p:spPr>
            <a:xfrm>
              <a:off x="2821242" y="926690"/>
              <a:ext cx="1700980" cy="1022555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508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 Exploratory Data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Analysis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DFD6CF0-CED8-CD91-2954-481ABFAD1C6B}"/>
                </a:ext>
              </a:extLst>
            </p:cNvPr>
            <p:cNvGrpSpPr/>
            <p:nvPr/>
          </p:nvGrpSpPr>
          <p:grpSpPr>
            <a:xfrm>
              <a:off x="2821242" y="1932037"/>
              <a:ext cx="1700980" cy="4456471"/>
              <a:chOff x="2821242" y="1932037"/>
              <a:chExt cx="1700980" cy="4456471"/>
            </a:xfrm>
          </p:grpSpPr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C30FA4F5-C1D7-800A-4781-F302239EE5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71732" y="1932037"/>
                <a:ext cx="0" cy="45720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4A8D9226-3E3D-1606-563B-6A97FED5DD5F}"/>
                  </a:ext>
                </a:extLst>
              </p:cNvPr>
              <p:cNvSpPr/>
              <p:nvPr/>
            </p:nvSpPr>
            <p:spPr>
              <a:xfrm>
                <a:off x="2821242" y="2396612"/>
                <a:ext cx="1700980" cy="1022555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700" dirty="0">
                    <a:solidFill>
                      <a:schemeClr val="tx1"/>
                    </a:solidFill>
                  </a:rPr>
                  <a:t>Survival </a:t>
                </a:r>
              </a:p>
              <a:p>
                <a:pPr algn="ctr"/>
                <a:r>
                  <a:rPr lang="en-US" sz="1700" dirty="0">
                    <a:solidFill>
                      <a:schemeClr val="tx1"/>
                    </a:solidFill>
                  </a:rPr>
                  <a:t>By </a:t>
                </a:r>
              </a:p>
              <a:p>
                <a:pPr algn="ctr"/>
                <a:r>
                  <a:rPr lang="en-US" sz="1700" dirty="0">
                    <a:solidFill>
                      <a:schemeClr val="tx1"/>
                    </a:solidFill>
                  </a:rPr>
                  <a:t>Gender</a:t>
                </a:r>
              </a:p>
            </p:txBody>
          </p: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42E1AA55-95C1-6FCE-AAA2-F1BE4266DF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71732" y="3429000"/>
                <a:ext cx="0" cy="45720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EF47E2A6-63FF-6156-CBDA-C4289939A899}"/>
                  </a:ext>
                </a:extLst>
              </p:cNvPr>
              <p:cNvSpPr/>
              <p:nvPr/>
            </p:nvSpPr>
            <p:spPr>
              <a:xfrm>
                <a:off x="2821242" y="3896033"/>
                <a:ext cx="1700980" cy="1022555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700" dirty="0">
                    <a:solidFill>
                      <a:schemeClr val="tx1"/>
                    </a:solidFill>
                  </a:rPr>
                  <a:t>Survival </a:t>
                </a:r>
              </a:p>
              <a:p>
                <a:pPr algn="ctr"/>
                <a:r>
                  <a:rPr lang="en-US" sz="1700" dirty="0">
                    <a:solidFill>
                      <a:schemeClr val="tx1"/>
                    </a:solidFill>
                  </a:rPr>
                  <a:t>By Passenger Class</a:t>
                </a:r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184DCAEB-922E-F978-84DF-EA23FC9D43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71732" y="4918588"/>
                <a:ext cx="0" cy="45720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CBAE4A93-1BDC-588A-8328-633DF4D34D13}"/>
                  </a:ext>
                </a:extLst>
              </p:cNvPr>
              <p:cNvSpPr/>
              <p:nvPr/>
            </p:nvSpPr>
            <p:spPr>
              <a:xfrm>
                <a:off x="2821242" y="5365953"/>
                <a:ext cx="1700980" cy="1022555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700" dirty="0">
                    <a:solidFill>
                      <a:schemeClr val="tx1"/>
                    </a:solidFill>
                  </a:rPr>
                  <a:t>Survival </a:t>
                </a:r>
              </a:p>
              <a:p>
                <a:pPr algn="ctr"/>
                <a:r>
                  <a:rPr lang="en-US" sz="1700" dirty="0">
                    <a:solidFill>
                      <a:schemeClr val="tx1"/>
                    </a:solidFill>
                  </a:rPr>
                  <a:t>By Age</a:t>
                </a:r>
              </a:p>
              <a:p>
                <a:pPr algn="ctr"/>
                <a:r>
                  <a:rPr lang="en-US" sz="1700" dirty="0">
                    <a:solidFill>
                      <a:schemeClr val="tx1"/>
                    </a:solidFill>
                  </a:rPr>
                  <a:t>Distribution</a:t>
                </a:r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C3DAB40-25C7-9E15-23CA-89BB8C8B9941}"/>
              </a:ext>
            </a:extLst>
          </p:cNvPr>
          <p:cNvGrpSpPr/>
          <p:nvPr/>
        </p:nvGrpSpPr>
        <p:grpSpPr>
          <a:xfrm>
            <a:off x="9395030" y="678098"/>
            <a:ext cx="1700980" cy="4009106"/>
            <a:chOff x="9395030" y="926690"/>
            <a:chExt cx="1700980" cy="4009106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5253656-BB64-1A3C-9515-D609FAF333FA}"/>
                </a:ext>
              </a:extLst>
            </p:cNvPr>
            <p:cNvSpPr/>
            <p:nvPr/>
          </p:nvSpPr>
          <p:spPr>
            <a:xfrm>
              <a:off x="9395030" y="926690"/>
              <a:ext cx="1700980" cy="1022555"/>
            </a:xfrm>
            <a:prstGeom prst="roundRect">
              <a:avLst/>
            </a:prstGeom>
            <a:solidFill>
              <a:schemeClr val="tx2">
                <a:lumMod val="50000"/>
                <a:lumOff val="50000"/>
              </a:schemeClr>
            </a:solidFill>
            <a:ln w="508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Evaluation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5B2ABCF-ABD4-6772-E672-B3436C81615E}"/>
                </a:ext>
              </a:extLst>
            </p:cNvPr>
            <p:cNvGrpSpPr/>
            <p:nvPr/>
          </p:nvGrpSpPr>
          <p:grpSpPr>
            <a:xfrm>
              <a:off x="9395030" y="1949245"/>
              <a:ext cx="1700980" cy="2986551"/>
              <a:chOff x="2821242" y="1932037"/>
              <a:chExt cx="1700980" cy="2986551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D4E7CA79-6CC2-EB19-3DA1-D270ACC4099B}"/>
                  </a:ext>
                </a:extLst>
              </p:cNvPr>
              <p:cNvSpPr/>
              <p:nvPr/>
            </p:nvSpPr>
            <p:spPr>
              <a:xfrm>
                <a:off x="2821242" y="2396612"/>
                <a:ext cx="1700980" cy="1022555"/>
              </a:xfrm>
              <a:prstGeom prst="roundRect">
                <a:avLst/>
              </a:prstGeom>
              <a:solidFill>
                <a:srgbClr val="FFFF00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700" b="1" dirty="0">
                    <a:solidFill>
                      <a:schemeClr val="tx1"/>
                    </a:solidFill>
                  </a:rPr>
                  <a:t>Compute Confusion Matrix</a:t>
                </a:r>
              </a:p>
            </p:txBody>
          </p: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82C79A52-FE26-8A94-3236-0E005DC14D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71732" y="1932037"/>
                <a:ext cx="0" cy="45720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A483F16C-8E03-59B3-EA7D-204FE05227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71732" y="3429000"/>
                <a:ext cx="0" cy="45720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1A010C47-054A-A78A-0FE5-E2B163A3FCF0}"/>
                  </a:ext>
                </a:extLst>
              </p:cNvPr>
              <p:cNvSpPr/>
              <p:nvPr/>
            </p:nvSpPr>
            <p:spPr>
              <a:xfrm>
                <a:off x="2821242" y="3896033"/>
                <a:ext cx="1700980" cy="1022555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700" dirty="0">
                    <a:solidFill>
                      <a:schemeClr val="tx1"/>
                    </a:solidFill>
                  </a:rPr>
                  <a:t>Visualize Confusion Matrix</a:t>
                </a:r>
              </a:p>
            </p:txBody>
          </p: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5FD9510-AC79-151A-6A33-E015B47B9246}"/>
              </a:ext>
            </a:extLst>
          </p:cNvPr>
          <p:cNvGrpSpPr/>
          <p:nvPr/>
        </p:nvGrpSpPr>
        <p:grpSpPr>
          <a:xfrm>
            <a:off x="7205702" y="678098"/>
            <a:ext cx="1707124" cy="5456903"/>
            <a:chOff x="7225481" y="926690"/>
            <a:chExt cx="1707124" cy="5456903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5279824-A15F-FA89-E695-5622CF20C9E7}"/>
                </a:ext>
              </a:extLst>
            </p:cNvPr>
            <p:cNvSpPr/>
            <p:nvPr/>
          </p:nvSpPr>
          <p:spPr>
            <a:xfrm>
              <a:off x="7225481" y="926690"/>
              <a:ext cx="1700980" cy="1022555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508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Modeling</a:t>
              </a: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2DF4F32-4470-0447-0854-922047BC7F5D}"/>
                </a:ext>
              </a:extLst>
            </p:cNvPr>
            <p:cNvGrpSpPr/>
            <p:nvPr/>
          </p:nvGrpSpPr>
          <p:grpSpPr>
            <a:xfrm>
              <a:off x="7231625" y="1927122"/>
              <a:ext cx="1700980" cy="4456471"/>
              <a:chOff x="2821242" y="1932037"/>
              <a:chExt cx="1700980" cy="4456471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2299297B-DC59-ABA4-FB37-0816B1FB88ED}"/>
                  </a:ext>
                </a:extLst>
              </p:cNvPr>
              <p:cNvSpPr/>
              <p:nvPr/>
            </p:nvSpPr>
            <p:spPr>
              <a:xfrm>
                <a:off x="2821242" y="2396612"/>
                <a:ext cx="1700980" cy="1022555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700" dirty="0">
                    <a:solidFill>
                      <a:schemeClr val="tx1"/>
                    </a:solidFill>
                  </a:rPr>
                  <a:t>Create &amp; Train Logistic Regression Model</a:t>
                </a:r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F1D2304C-B8AF-6CE9-E1AB-CB0348DAF9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71732" y="1932037"/>
                <a:ext cx="0" cy="45720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25E1BA6-411D-0C18-ECFF-F5B324E4A4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71732" y="3429000"/>
                <a:ext cx="0" cy="45720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69A174CA-E1AB-8B79-E919-05FC119A876F}"/>
                  </a:ext>
                </a:extLst>
              </p:cNvPr>
              <p:cNvSpPr/>
              <p:nvPr/>
            </p:nvSpPr>
            <p:spPr>
              <a:xfrm>
                <a:off x="2821242" y="3896033"/>
                <a:ext cx="1700980" cy="1022555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Make 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Prediction</a:t>
                </a:r>
              </a:p>
            </p:txBody>
          </p: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610480EA-1E2E-6B7C-ECC6-210B8FC6C9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71732" y="4918588"/>
                <a:ext cx="0" cy="45720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B5E938D0-FAC2-E430-B790-BA0234DEFCA4}"/>
                  </a:ext>
                </a:extLst>
              </p:cNvPr>
              <p:cNvSpPr/>
              <p:nvPr/>
            </p:nvSpPr>
            <p:spPr>
              <a:xfrm>
                <a:off x="2821242" y="5365953"/>
                <a:ext cx="1700980" cy="1022555"/>
              </a:xfrm>
              <a:prstGeom prst="roundRect">
                <a:avLst/>
              </a:prstGeom>
              <a:solidFill>
                <a:srgbClr val="FFFF00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Calculate Accuracy</a:t>
                </a:r>
              </a:p>
              <a:p>
                <a:pPr algn="ctr"/>
                <a:endParaRPr lang="en-US" b="1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BCF25D5-9DBD-C946-28F7-7DEEE30F01C8}"/>
              </a:ext>
            </a:extLst>
          </p:cNvPr>
          <p:cNvGrpSpPr/>
          <p:nvPr/>
        </p:nvGrpSpPr>
        <p:grpSpPr>
          <a:xfrm>
            <a:off x="5010380" y="678098"/>
            <a:ext cx="1713118" cy="5456903"/>
            <a:chOff x="5019520" y="926690"/>
            <a:chExt cx="1713118" cy="5456903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6F2DB927-8EB8-7736-9F96-C8F683E73EE1}"/>
                </a:ext>
              </a:extLst>
            </p:cNvPr>
            <p:cNvSpPr/>
            <p:nvPr/>
          </p:nvSpPr>
          <p:spPr>
            <a:xfrm>
              <a:off x="5031658" y="926690"/>
              <a:ext cx="1700980" cy="1022555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508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Data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Preparation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77F25ABF-12BC-E724-FB50-2D199757B599}"/>
                </a:ext>
              </a:extLst>
            </p:cNvPr>
            <p:cNvGrpSpPr/>
            <p:nvPr/>
          </p:nvGrpSpPr>
          <p:grpSpPr>
            <a:xfrm>
              <a:off x="5019520" y="1949245"/>
              <a:ext cx="1700980" cy="4434348"/>
              <a:chOff x="2821242" y="1954160"/>
              <a:chExt cx="1700980" cy="4434348"/>
            </a:xfrm>
          </p:grpSpPr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3C70BEEB-92FE-0002-519B-98CDBE70C9FB}"/>
                  </a:ext>
                </a:extLst>
              </p:cNvPr>
              <p:cNvSpPr/>
              <p:nvPr/>
            </p:nvSpPr>
            <p:spPr>
              <a:xfrm>
                <a:off x="2821242" y="2396612"/>
                <a:ext cx="1700980" cy="1022555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700" dirty="0">
                    <a:solidFill>
                      <a:schemeClr val="tx1"/>
                    </a:solidFill>
                  </a:rPr>
                  <a:t>Missing Age Value With Median</a:t>
                </a:r>
              </a:p>
            </p:txBody>
          </p: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11E6BCE4-17A4-7C3E-D408-5CCE01B0EEB6}"/>
                  </a:ext>
                </a:extLst>
              </p:cNvPr>
              <p:cNvCxnSpPr>
                <a:cxnSpLocks/>
                <a:stCxn id="8" idx="2"/>
              </p:cNvCxnSpPr>
              <p:nvPr/>
            </p:nvCxnSpPr>
            <p:spPr>
              <a:xfrm flipH="1">
                <a:off x="3671732" y="1954160"/>
                <a:ext cx="12138" cy="43507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60960806-653D-B533-8BEF-3A8498E782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71732" y="3429000"/>
                <a:ext cx="0" cy="45720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6A89B04E-D9BD-D51A-DC03-F926F78285BE}"/>
                  </a:ext>
                </a:extLst>
              </p:cNvPr>
              <p:cNvSpPr/>
              <p:nvPr/>
            </p:nvSpPr>
            <p:spPr>
              <a:xfrm>
                <a:off x="2821242" y="3896033"/>
                <a:ext cx="1700980" cy="1022555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700" dirty="0">
                    <a:solidFill>
                      <a:schemeClr val="tx1"/>
                    </a:solidFill>
                  </a:rPr>
                  <a:t>Missing Embarked Value With Mode</a:t>
                </a:r>
              </a:p>
            </p:txBody>
          </p: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86D1F073-4F99-07CF-E99C-DFEE7A9655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71732" y="4918588"/>
                <a:ext cx="0" cy="45720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8CDE7D12-EA93-22C1-4A1C-7CC088560FEB}"/>
                  </a:ext>
                </a:extLst>
              </p:cNvPr>
              <p:cNvSpPr/>
              <p:nvPr/>
            </p:nvSpPr>
            <p:spPr>
              <a:xfrm>
                <a:off x="2821242" y="5365953"/>
                <a:ext cx="1700980" cy="1022555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700" dirty="0">
                    <a:solidFill>
                      <a:schemeClr val="tx1"/>
                    </a:solidFill>
                  </a:rPr>
                  <a:t>Encode Sex Value </a:t>
                </a:r>
              </a:p>
              <a:p>
                <a:pPr algn="ctr"/>
                <a:r>
                  <a:rPr lang="en-US" sz="1700" dirty="0">
                    <a:solidFill>
                      <a:schemeClr val="tx1"/>
                    </a:solidFill>
                  </a:rPr>
                  <a:t>Male = 0</a:t>
                </a:r>
              </a:p>
              <a:p>
                <a:pPr algn="ctr"/>
                <a:r>
                  <a:rPr lang="en-US" sz="1700" dirty="0">
                    <a:solidFill>
                      <a:schemeClr val="tx1"/>
                    </a:solidFill>
                  </a:rPr>
                  <a:t>Female = 1</a:t>
                </a:r>
              </a:p>
            </p:txBody>
          </p:sp>
        </p:grpSp>
      </p:grp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B958DBF-9310-C95F-47C2-DFC495F1C907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4528176" y="1189376"/>
            <a:ext cx="49434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14AB961-87C5-809F-5D0B-763BEBE21A5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6723498" y="1189376"/>
            <a:ext cx="48220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38B0AF5-58E8-7EF2-0D28-7783F762F1D6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8906682" y="1189376"/>
            <a:ext cx="48834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6E3492-B0A5-0A59-EAB1-8C77DB5B6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185A4-A898-4581-AEDA-CB4FE4CED82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618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223</Words>
  <Application>Microsoft Office PowerPoint</Application>
  <PresentationFormat>Widescreen</PresentationFormat>
  <Paragraphs>123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Olis Bahari</dc:creator>
  <cp:lastModifiedBy>Lenovo</cp:lastModifiedBy>
  <cp:revision>90</cp:revision>
  <dcterms:created xsi:type="dcterms:W3CDTF">2026-07-01T11:43:34Z</dcterms:created>
  <dcterms:modified xsi:type="dcterms:W3CDTF">2026-07-04T19:23:18Z</dcterms:modified>
</cp:coreProperties>
</file>